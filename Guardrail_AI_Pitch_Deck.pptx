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9144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A0C0"/>
                </a:solidFill>
                <a:latin typeface="Calibri"/>
              </a:defRPr>
            </a:pPr>
            <a:r>
              <a:t>Real-time confidence scoring for AI outputs.</a:t>
            </a:r>
            <a:br/>
            <a:r>
              <a:t>Stop hallucinations before they reach your customers.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011680" cy="41148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0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59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23 Risk Signals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3931920"/>
            <a:ext cx="2011680" cy="41148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0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3959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25K Responses/sec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3931920"/>
            <a:ext cx="2011680" cy="41148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0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59" y="3959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&lt;50ms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931920"/>
            <a:ext cx="2011680" cy="41148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0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3959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Model-Agnostic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symehmoo@gmail.com  •  guardrail-mvp-production.up.railway.app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6B"/>
                </a:solidFill>
                <a:latin typeface="Calibri"/>
              </a:defRPr>
            </a:pPr>
            <a:r>
              <a:t>AI is confidently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0A0C0"/>
                </a:solidFill>
                <a:latin typeface="Calibri"/>
              </a:defRPr>
            </a:pPr>
            <a:r>
              <a:t>✕  LLMs fabricate citations, ISBNs, and study DOIs</a:t>
            </a:r>
          </a:p>
          <a:p>
            <a:pPr>
              <a:spcAft>
                <a:spcPts val="600"/>
              </a:spcAft>
              <a:defRPr sz="1600">
                <a:solidFill>
                  <a:srgbClr val="A0A0C0"/>
                </a:solidFill>
                <a:latin typeface="Calibri"/>
              </a:defRPr>
            </a:pPr>
            <a:r>
              <a:t>✕  Models give medical dosages, then add "I'm not a doctor"</a:t>
            </a:r>
          </a:p>
          <a:p>
            <a:pPr>
              <a:spcAft>
                <a:spcPts val="600"/>
              </a:spcAft>
              <a:defRPr sz="1600">
                <a:solidFill>
                  <a:srgbClr val="A0A0C0"/>
                </a:solidFill>
                <a:latin typeface="Calibri"/>
              </a:defRPr>
            </a:pPr>
            <a:r>
              <a:t>✕  No safety layer between the AI and your customer</a:t>
            </a:r>
          </a:p>
          <a:p>
            <a:pPr>
              <a:spcAft>
                <a:spcPts val="600"/>
              </a:spcAft>
              <a:defRPr sz="1600">
                <a:solidFill>
                  <a:srgbClr val="A0A0C0"/>
                </a:solidFill>
                <a:latin typeface="Calibri"/>
              </a:defRPr>
            </a:pPr>
            <a:r>
              <a:t>✕  A single bad response = lawsuit, lost trust, regulator 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0"/>
            <a:ext cx="4114800" cy="32004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B6B"/>
                </a:solidFill>
                <a:latin typeface="Calibri"/>
              </a:defRPr>
            </a:pPr>
            <a:r>
              <a:t>87%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576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C0"/>
                </a:solidFill>
                <a:latin typeface="Calibri"/>
              </a:defRPr>
            </a:pPr>
            <a:r>
              <a:t>of AI responses we tested</a:t>
            </a:r>
            <a:br/>
            <a:r>
              <a:t>were too risky to deliver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480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Based on 100 real responses from 5 open-source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Score every response. Catch what models won't.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256032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Real-Time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Calibri"/>
              </a:defRPr>
            </a:pPr>
            <a:r>
              <a:t>Every AI response scored across 23 risk signals before it reaches your user. Under 50ms.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383280" cy="256032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Smart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Calibri"/>
              </a:defRPr>
            </a:pPr>
            <a:r>
              <a:t>Safe responses delivered. Risky ones routed to human reviewers. You set the thresholds.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94560"/>
            <a:ext cx="3383280" cy="256032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9184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Calibri"/>
              </a:defRPr>
            </a:pPr>
            <a:r>
              <a:t>Every response scored, timestamped, and logged. Full compliance documentation.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698480" cy="640080"/>
          </a:xfrm>
          <a:prstGeom prst="roundRect">
            <a:avLst/>
          </a:prstGeom>
          <a:solidFill>
            <a:srgbClr val="0A2015"/>
          </a:solidFill>
          <a:ln w="12700">
            <a:solidFill>
              <a:srgbClr val="155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Calibri"/>
              </a:defRPr>
            </a:pPr>
            <a:r>
              <a:t>💡 Key differentiator: Guardrail uses deterministic pattern matching — not another LLM. It's fast, predictable, and never hallucinates itself.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2011680" cy="1828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Customer asks</a:t>
            </a:r>
            <a:br/>
            <a:r>
              <a:t>your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86000"/>
            <a:ext cx="2011680" cy="1828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Your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91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Any model</a:t>
            </a:r>
            <a:br/>
            <a:r>
              <a:t>generates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286000"/>
            <a:ext cx="2011680" cy="1828800"/>
          </a:xfrm>
          <a:prstGeom prst="roundRect">
            <a:avLst/>
          </a:prstGeom>
          <a:solidFill>
            <a:srgbClr val="201840"/>
          </a:solidFill>
          <a:ln w="127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9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Guardrail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3291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23 signals • &lt;50ms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2286000"/>
            <a:ext cx="2011680" cy="1828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Safe → 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291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Confidence ≥ 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2286000"/>
            <a:ext cx="2011680" cy="1828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Risky → Human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291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Confidence &lt; 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Works with any LLM — OpenAI, Claude, Gemini, Llama, Mistral, or your fine-tuned internal model.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23 Signals We Detect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685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385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🔍  Hallucinated facts &amp; claims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685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385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📎  Fabricated citations &amp; ISBNs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685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385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🏥  Unsafe medical guidance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3383280" cy="685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💰  Risky financial advice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743200"/>
            <a:ext cx="3383280" cy="685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8529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⚖️  Unqualified legal opinions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383280" cy="685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529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🐑  Sycophantic agreement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3383280" cy="685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673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⏰  Stale / outdated information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657600"/>
            <a:ext cx="3383280" cy="685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7673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🎭  Disclaimer-then-advise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657600"/>
            <a:ext cx="3383280" cy="685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7673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🧪  Safety-critical content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3383280" cy="685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817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🔢  Unverified numerical claims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72000"/>
            <a:ext cx="3383280" cy="685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6817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🤖  AI identity deflection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572000"/>
            <a:ext cx="3383280" cy="6858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6817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📐  Hedging &amp; vague language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+ 11 more signals including knowledge cutoff detection, self-contradiction, overly brief responses, and formatting anomalies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We Tested 5 LLMs.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6B"/>
                </a:solidFill>
                <a:latin typeface="Calibri"/>
              </a:defRPr>
            </a:pPr>
            <a:r>
              <a:t>87% of Responses Failed.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Calibri"/>
              </a:defRPr>
            </a:pPr>
            <a:r>
              <a:t>100 real responses • 20 adversarial prompts • 5 open-source models running locally via Ollama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2860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C0"/>
                </a:solidFill>
                <a:latin typeface="Calibri"/>
              </a:defRPr>
            </a:pPr>
            <a:r>
              <a:t>Real LLM</a:t>
            </a:r>
            <a:br/>
            <a:r>
              <a:t>Responses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743200"/>
            <a:ext cx="2560320" cy="22860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9260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B6B"/>
                </a:solidFill>
                <a:latin typeface="Calibri"/>
              </a:defRPr>
            </a:pPr>
            <a:r>
              <a:t>87%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C0"/>
                </a:solidFill>
                <a:latin typeface="Calibri"/>
              </a:defRPr>
            </a:pPr>
            <a:r>
              <a:t>Failed</a:t>
            </a:r>
            <a:br/>
            <a:r>
              <a:t>Safety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2560320" cy="22860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B6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C0"/>
                </a:solidFill>
                <a:latin typeface="Calibri"/>
              </a:defRPr>
            </a:pPr>
            <a:r>
              <a:t>Medical/Legal/</a:t>
            </a:r>
            <a:br/>
            <a:r>
              <a:t>Financial Failed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743200"/>
            <a:ext cx="2560320" cy="22860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9260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B6B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C0"/>
                </a:solidFill>
                <a:latin typeface="Calibri"/>
              </a:defRPr>
            </a:pPr>
            <a:r>
              <a:t>Models Fabricated</a:t>
            </a:r>
            <a:br/>
            <a:r>
              <a:t>Citations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 Safety Ranking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09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01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Creator</a:t>
                      </a:r>
                    </a:p>
                  </a:txBody>
                  <a:tcPr>
                    <a:solidFill>
                      <a:srgbClr val="201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201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Safe to Deliver</a:t>
                      </a:r>
                    </a:p>
                  </a:txBody>
                  <a:tcPr>
                    <a:solidFill>
                      <a:srgbClr val="201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Failure Rate</a:t>
                      </a:r>
                    </a:p>
                  </a:txBody>
                  <a:tcPr>
                    <a:solidFill>
                      <a:srgbClr val="201A4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🏆 Mistral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Mistral AI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7B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█████████████████░░░ 80%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    Phi-3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Microsoft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3.8B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██████████████████░░ 85%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    Llama 3.2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3B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██████████████████░░ 85%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    Gemma 2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2B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███████████████████░ 90%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    Qwen 2.5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Alibaba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3B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████████████████████ 95%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Even the best model (Mistral 7B) failed 80% of safety checks. The "winner" is simply the least dangerous.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201168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🏥 "I'm not a doctor" doesn't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Calibri"/>
              </a:defRPr>
            </a:pPr>
            <a:r>
              <a:t>Every model added a medical disclaimer — then gave specific drug dosages anyway. Users act on the numbers, not the disclaimer.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828800"/>
            <a:ext cx="5303520" cy="201168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📎 4/5 models fabricated ISBNs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Calibri"/>
              </a:defRPr>
            </a:pPr>
            <a:r>
              <a:t>Asked for a real book's ISBN — at least 2 models generated fake numbers with high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303520" cy="201168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📊 More parameters ≠ safer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Calibri"/>
              </a:defRPr>
            </a:pPr>
            <a:r>
              <a:t>Google's 2B model beat Meta's 3B on several prompts. Shorter responses = fewer unverified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4114800"/>
            <a:ext cx="5303520" cy="201168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📝 Verbose = dangerous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4846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C0"/>
                </a:solidFill>
                <a:latin typeface="Calibri"/>
              </a:defRPr>
            </a:pPr>
            <a:r>
              <a:t>Models that gave longer responses scored lower. Every additional sentence is another opportunity to hallucinate.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Integration: 3 Lines of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BEFORE — NO SAFETY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1645920"/>
          </a:xfrm>
          <a:prstGeom prst="roundRect">
            <a:avLst/>
          </a:prstGeom>
          <a:solidFill>
            <a:srgbClr val="0A0A15"/>
          </a:solidFill>
          <a:ln w="12700">
            <a:solidFill>
              <a:srgbClr val="4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Courier New"/>
              </a:defRPr>
            </a:pPr>
            <a:r>
              <a:t>const answer = await llm.chat(question);</a:t>
            </a:r>
            <a:br/>
            <a:r>
              <a:t>res.send(answer); // 🚨 no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AFTER — WITH GUARDRAIL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5029200" cy="2743200"/>
          </a:xfrm>
          <a:prstGeom prst="roundRect">
            <a:avLst/>
          </a:prstGeom>
          <a:solidFill>
            <a:srgbClr val="0A0A15"/>
          </a:solidFill>
          <a:ln w="12700">
            <a:solidFill>
              <a:srgbClr val="154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Courier New"/>
              </a:defRPr>
            </a:pPr>
            <a:r>
              <a:t>const answer = await llm.chat(question);</a:t>
            </a:r>
            <a:br/>
            <a:r>
              <a:t>const score = await guardrail.check(answer);</a:t>
            </a:r>
            <a:br/>
            <a:br/>
            <a:r>
              <a:t>if (score.decision === 'deliver')</a:t>
            </a:r>
            <a:br/>
            <a:r>
              <a:t>  res.send(answer); // ✅ safe</a:t>
            </a:r>
            <a:br/>
            <a:r>
              <a:t>if (score.decision === 'escalate')</a:t>
            </a:r>
            <a:br/>
            <a:r>
              <a:t>  escalate(answer); // 🚨 human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2560320" cy="457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0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309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Calibri"/>
              </a:defRPr>
            </a:pPr>
            <a:r>
              <a:t>REST API — any language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5303520"/>
            <a:ext cx="2560320" cy="457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0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53309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Calibri"/>
              </a:defRPr>
            </a:pPr>
            <a:r>
              <a:t>JavaScript SDK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303520"/>
            <a:ext cx="2560320" cy="457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0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3309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Calibri"/>
              </a:defRPr>
            </a:pPr>
            <a:r>
              <a:t>MCP Server (Claude, Cursor)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5303520"/>
            <a:ext cx="2560320" cy="457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0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53309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Calibri"/>
              </a:defRPr>
            </a:pPr>
            <a:r>
              <a:t>Self-hosted 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Who Needs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10312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Healthcare &amp; Pharma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C0"/>
                </a:solidFill>
                <a:latin typeface="Calibri"/>
              </a:defRPr>
            </a:pPr>
            <a:r>
              <a:t>Block unsafe dosage advice</a:t>
            </a:r>
            <a:br/>
            <a:r>
              <a:t>before it reaches patients.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210312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Financial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C0"/>
                </a:solidFill>
                <a:latin typeface="Calibri"/>
              </a:defRPr>
            </a:pPr>
            <a:r>
              <a:t>Prevent unqualified investment</a:t>
            </a:r>
            <a:br/>
            <a:r>
              <a:t>advice from reaching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210312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Legal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C0"/>
                </a:solidFill>
                <a:latin typeface="Calibri"/>
              </a:defRPr>
            </a:pPr>
            <a:r>
              <a:t>Ensure AI doesn't fabricate</a:t>
            </a:r>
            <a:br/>
            <a:r>
              <a:t>case law or legal opinions.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3383280" cy="210312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E-Commerce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5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C0"/>
                </a:solidFill>
                <a:latin typeface="Calibri"/>
              </a:defRPr>
            </a:pPr>
            <a:r>
              <a:t>Block hallucinated product</a:t>
            </a:r>
            <a:br/>
            <a:r>
              <a:t>specs and fake reviews.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206240"/>
            <a:ext cx="3383280" cy="210312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377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EdTech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9495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C0"/>
                </a:solidFill>
                <a:latin typeface="Calibri"/>
              </a:defRPr>
            </a:pPr>
            <a:r>
              <a:t>Prevent factually wrong</a:t>
            </a:r>
            <a:br/>
            <a:r>
              <a:t>answers at scale.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206240"/>
            <a:ext cx="3383280" cy="210312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9377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Enterprise SaaS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39495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C0"/>
                </a:solidFill>
                <a:latin typeface="Calibri"/>
              </a:defRPr>
            </a:pPr>
            <a:r>
              <a:t>Safety net before shipping</a:t>
            </a:r>
            <a:br/>
            <a:r>
              <a:t>AI to customers.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We've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A0A0C0"/>
                </a:solidFill>
                <a:latin typeface="Calibri"/>
              </a:defRPr>
            </a:pPr>
            <a:r>
              <a:t>→  Scoring API — deployed on Railway (production)</a:t>
            </a:r>
          </a:p>
          <a:p>
            <a:pPr>
              <a:spcAft>
                <a:spcPts val="600"/>
              </a:spcAft>
              <a:defRPr sz="1400">
                <a:solidFill>
                  <a:srgbClr val="A0A0C0"/>
                </a:solidFill>
                <a:latin typeface="Calibri"/>
              </a:defRPr>
            </a:pPr>
            <a:r>
              <a:t>→  JavaScript SDK — npm installable</a:t>
            </a:r>
          </a:p>
          <a:p>
            <a:pPr>
              <a:spcAft>
                <a:spcPts val="600"/>
              </a:spcAft>
              <a:defRPr sz="1400">
                <a:solidFill>
                  <a:srgbClr val="A0A0C0"/>
                </a:solidFill>
                <a:latin typeface="Calibri"/>
              </a:defRPr>
            </a:pPr>
            <a:r>
              <a:t>→  MCP Server — works with Claude, Cursor</a:t>
            </a:r>
          </a:p>
          <a:p>
            <a:pPr>
              <a:spcAft>
                <a:spcPts val="600"/>
              </a:spcAft>
              <a:defRPr sz="1400">
                <a:solidFill>
                  <a:srgbClr val="A0A0C0"/>
                </a:solidFill>
                <a:latin typeface="Calibri"/>
              </a:defRPr>
            </a:pPr>
            <a:r>
              <a:t>→  Interactive Playground — live demo</a:t>
            </a:r>
          </a:p>
          <a:p>
            <a:pPr>
              <a:spcAft>
                <a:spcPts val="600"/>
              </a:spcAft>
              <a:defRPr sz="1400">
                <a:solidFill>
                  <a:srgbClr val="A0A0C0"/>
                </a:solidFill>
                <a:latin typeface="Calibri"/>
              </a:defRPr>
            </a:pPr>
            <a:r>
              <a:t>→  Audit Toolkit — open-sourced on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A0A0C0"/>
                </a:solidFill>
                <a:latin typeface="Calibri"/>
              </a:defRPr>
            </a:pPr>
            <a:r>
              <a:t>→  100 real LLM responses audited</a:t>
            </a:r>
          </a:p>
          <a:p>
            <a:pPr>
              <a:spcAft>
                <a:spcPts val="600"/>
              </a:spcAft>
              <a:defRPr sz="1400">
                <a:solidFill>
                  <a:srgbClr val="A0A0C0"/>
                </a:solidFill>
                <a:latin typeface="Calibri"/>
              </a:defRPr>
            </a:pPr>
            <a:r>
              <a:t>→  5 open-source models tested</a:t>
            </a:r>
          </a:p>
          <a:p>
            <a:pPr>
              <a:spcAft>
                <a:spcPts val="600"/>
              </a:spcAft>
              <a:defRPr sz="1400">
                <a:solidFill>
                  <a:srgbClr val="A0A0C0"/>
                </a:solidFill>
                <a:latin typeface="Calibri"/>
              </a:defRPr>
            </a:pPr>
            <a:r>
              <a:t>→  23 detection signals implemented</a:t>
            </a:r>
          </a:p>
          <a:p>
            <a:pPr>
              <a:spcAft>
                <a:spcPts val="600"/>
              </a:spcAft>
              <a:defRPr sz="1400">
                <a:solidFill>
                  <a:srgbClr val="A0A0C0"/>
                </a:solidFill>
                <a:latin typeface="Calibri"/>
              </a:defRPr>
            </a:pPr>
            <a:r>
              <a:t>→  25,000 req/sec throughput (benchmarked)</a:t>
            </a:r>
          </a:p>
          <a:p>
            <a:pPr>
              <a:spcAft>
                <a:spcPts val="600"/>
              </a:spcAft>
              <a:defRPr sz="1400">
                <a:solidFill>
                  <a:srgbClr val="A0A0C0"/>
                </a:solidFill>
                <a:latin typeface="Calibri"/>
              </a:defRPr>
            </a:pPr>
            <a:r>
              <a:t>→  Medium article &amp; blog-ready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2560320" cy="914400"/>
          </a:xfrm>
          <a:prstGeom prst="roundRect">
            <a:avLst/>
          </a:prstGeom>
          <a:solidFill>
            <a:srgbClr val="0F152A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C0"/>
                </a:solidFill>
                <a:latin typeface="Calibri"/>
              </a:defRPr>
            </a:pPr>
            <a:r>
              <a:t>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5120640"/>
            <a:ext cx="2560320" cy="914400"/>
          </a:xfrm>
          <a:prstGeom prst="roundRect">
            <a:avLst/>
          </a:prstGeom>
          <a:solidFill>
            <a:srgbClr val="0F152A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Railway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C0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120640"/>
            <a:ext cx="2560320" cy="914400"/>
          </a:xfrm>
          <a:prstGeom prst="roundRect">
            <a:avLst/>
          </a:prstGeom>
          <a:solidFill>
            <a:srgbClr val="0F152A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C0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5120640"/>
            <a:ext cx="2560320" cy="914400"/>
          </a:xfrm>
          <a:prstGeom prst="roundRect">
            <a:avLst/>
          </a:prstGeom>
          <a:solidFill>
            <a:srgbClr val="0F152A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Heuristic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C0"/>
                </a:solidFill>
                <a:latin typeface="Calibri"/>
              </a:defRPr>
            </a:pPr>
            <a:r>
              <a:t>No LLM 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Current Phase: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Calibri"/>
              </a:defRPr>
            </a:pPr>
            <a:r>
              <a:t>We're battle-testing the engine before scaling. Here's what we're actively working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192024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005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Scoring 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C0"/>
                </a:solidFill>
                <a:latin typeface="Calibri"/>
              </a:defRPr>
            </a:pPr>
            <a:r>
              <a:t>Tuning 60+ heuristic weights.</a:t>
            </a:r>
            <a:br/>
            <a:r>
              <a:t>Targeting &lt;5% false positive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192024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005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Negation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71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C0"/>
                </a:solidFill>
                <a:latin typeface="Calibri"/>
              </a:defRPr>
            </a:pPr>
            <a:r>
              <a:t>Distinguishing "X is" from</a:t>
            </a:r>
            <a:br/>
            <a:r>
              <a:t>"X is NOT" in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383280" cy="192024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005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60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PostgreSQL 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71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C0"/>
                </a:solidFill>
                <a:latin typeface="Calibri"/>
              </a:defRPr>
            </a:pPr>
            <a:r>
              <a:t>Production-grade concurrency</a:t>
            </a:r>
            <a:br/>
            <a:r>
              <a:t>and multi-tenant keys.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3383280" cy="192024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005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7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Larger Model Audits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59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C0"/>
                </a:solidFill>
                <a:latin typeface="Calibri"/>
              </a:defRPr>
            </a:pPr>
            <a:r>
              <a:t>Expanding to 13B, 34B, 70B.</a:t>
            </a:r>
            <a:br/>
            <a:r>
              <a:t>500+ prompts, 10+ models.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206240"/>
            <a:ext cx="3383280" cy="192024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005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343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75487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Enterprise 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166359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C0"/>
                </a:solidFill>
                <a:latin typeface="Calibri"/>
              </a:defRPr>
            </a:pPr>
            <a:r>
              <a:t>API key rotation, rate limiting,</a:t>
            </a:r>
            <a:br/>
            <a:r>
              <a:t>usage dashboards.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06240"/>
            <a:ext cx="3383280" cy="192024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005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343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75487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Multi-language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166359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C0"/>
                </a:solidFill>
                <a:latin typeface="Calibri"/>
              </a:defRPr>
            </a:pPr>
            <a:r>
              <a:t>Spanish, French, German,</a:t>
            </a:r>
            <a:br/>
            <a:r>
              <a:t>Arabic, Mandarin support.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03120"/>
            <a:ext cx="9601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1965960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36576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Q2 2026 •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Hardening &amp; Partners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Precision tuning (60+ weights)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PostgreSQL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Negation logic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3–5 design partners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Publish Medium + audit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1965960"/>
            <a:ext cx="274320" cy="2743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2560320"/>
            <a:ext cx="2560320" cy="36576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Scale &amp; 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Python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Webhook &amp; Slack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Dashboard analytics 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10+ model audit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Self-hosted Docker image</a:t>
            </a:r>
          </a:p>
        </p:txBody>
      </p:sp>
      <p:sp>
        <p:nvSpPr>
          <p:cNvPr id="23" name="Oval 22"/>
          <p:cNvSpPr/>
          <p:nvPr/>
        </p:nvSpPr>
        <p:spPr>
          <a:xfrm>
            <a:off x="7498079" y="1965960"/>
            <a:ext cx="274320" cy="27432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2560320"/>
            <a:ext cx="2560320" cy="36576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B2FF7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Enterprise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Multi-tenant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SOC 2 compliance prep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Custom signal config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Team management &amp; RBAC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SLA &amp; dedicated support</a:t>
            </a:r>
          </a:p>
        </p:txBody>
      </p:sp>
      <p:sp>
        <p:nvSpPr>
          <p:cNvPr id="32" name="Oval 31"/>
          <p:cNvSpPr/>
          <p:nvPr/>
        </p:nvSpPr>
        <p:spPr>
          <a:xfrm>
            <a:off x="10332720" y="196596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35440" y="2560320"/>
            <a:ext cx="2560320" cy="36576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Intelligence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ML-enhanced scoring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Industry signal packs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Real-time threat intel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Competitor benchmarking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C0"/>
                </a:solidFill>
                <a:latin typeface="Calibri"/>
              </a:defRPr>
            </a:pPr>
            <a:r>
              <a:t>→ Regulatory compliance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Design Partner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C0"/>
                </a:solidFill>
                <a:latin typeface="Calibri"/>
              </a:defRPr>
            </a:pPr>
            <a:r>
              <a:t>We're selecting 3–5 companies to shape the product with 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What You 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303520" cy="64008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🆓  Free access during the entire partner period (6 months)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303520" cy="64008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🎯  Custom signals tuned to your specific domain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303520" cy="64008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5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🔧  Direct engineering access — weekly syncs, priority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60"/>
            <a:ext cx="5303520" cy="64008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📋  Custom audit report on your internal model's safety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5303520" cy="64008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💰  Locked-in pricing — 50% discount forever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2FF7"/>
                </a:solidFill>
                <a:latin typeface="Calibri"/>
              </a:defRPr>
            </a:pPr>
            <a:r>
              <a:t>What We 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377440"/>
            <a:ext cx="5029200" cy="64008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35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💬  Bi-weekly feedback — 30-min calls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154680"/>
            <a:ext cx="5029200" cy="64008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35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246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🏭  Real production traffic — run on your AI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31920"/>
            <a:ext cx="5029200" cy="64008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35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02335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📣  Case study permission — anonymized 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709160"/>
            <a:ext cx="5029200" cy="64008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35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800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🤝  Co-development — help prioritize next signals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43600"/>
            <a:ext cx="10698480" cy="50292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0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97103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2FF"/>
                </a:solidFill>
                <a:latin typeface="Calibri"/>
              </a:defRPr>
            </a:pPr>
            <a:r>
              <a:t>🎯 Ideal partners: Companies with live AI chatbots in healthcare, finance, legal, or customer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2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0A0C0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1,000 checks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23 detection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REST API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Community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Calibri"/>
              </a:defRPr>
            </a:pPr>
            <a:r>
              <a:t>✕  Custom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440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Calibri"/>
              </a:defRPr>
            </a:pPr>
            <a:r>
              <a:t>✕  Analytics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828800"/>
            <a:ext cx="3474720" cy="43891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4959" y="1691640"/>
            <a:ext cx="1645920" cy="320040"/>
          </a:xfrm>
          <a:prstGeom prst="roundRect">
            <a:avLst/>
          </a:prstGeom>
          <a:solidFill>
            <a:srgbClr val="00D2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59" y="17007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POPULAR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011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926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50,000 checks /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23 detection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REST API + 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Analytics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Webhook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5440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Priority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828800"/>
            <a:ext cx="3474720" cy="438912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35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011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B2FF7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26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annual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Unlimited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Custom detection signals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Self-hosted 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SOC 2 compliance bundle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SLA &amp; dedicated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440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C0"/>
                </a:solidFill>
                <a:latin typeface="Calibri"/>
              </a:defRPr>
            </a:pPr>
            <a:r>
              <a:t>✓  Team management &amp; RBAC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Design partners receive 50% off Pro / Enterprise pricing for life.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3050"/>
                </a:solidFill>
                <a:latin typeface="Calibri"/>
              </a:defRPr>
            </a:pPr>
            <a:r>
              <a:t>GUARDRAIL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Guardrail AI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01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Guardrail AI</a:t>
                      </a:r>
                    </a:p>
                  </a:txBody>
                  <a:tcPr>
                    <a:solidFill>
                      <a:srgbClr val="201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LLM-as-Judge</a:t>
                      </a:r>
                    </a:p>
                  </a:txBody>
                  <a:tcPr>
                    <a:solidFill>
                      <a:srgbClr val="201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Manual Review</a:t>
                      </a:r>
                    </a:p>
                  </a:txBody>
                  <a:tcPr>
                    <a:solidFill>
                      <a:srgbClr val="201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0A0C0"/>
                          </a:solidFill>
                          <a:latin typeface="Calibri"/>
                        </a:defRPr>
                      </a:pPr>
                      <a:r>
                        <a:t>Prompt Eng.</a:t>
                      </a:r>
                    </a:p>
                  </a:txBody>
                  <a:tcPr>
                    <a:solidFill>
                      <a:srgbClr val="201A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✓ &lt;50ms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✕ 2–10 sec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✕ Hours/days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AA00"/>
                          </a:solidFill>
                          <a:latin typeface="Calibri"/>
                        </a:defRPr>
                      </a:pPr>
                      <a:r>
                        <a:t>~ Varies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Deterministic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✓ Always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✕ Non-deterministic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✕ No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per Check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✓ $0.002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✕ $0.01–0.05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✕ $0.50–2.00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✓ Free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Audit Trail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✓ Full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AA00"/>
                          </a:solidFill>
                          <a:latin typeface="Calibri"/>
                        </a:defRPr>
                      </a:pPr>
                      <a:r>
                        <a:t>~ Partial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✓ Full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✕ None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✓ 25K/sec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AA00"/>
                          </a:solidFill>
                          <a:latin typeface="Calibri"/>
                        </a:defRPr>
                      </a:pPr>
                      <a:r>
                        <a:t>~ Limited by API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✕ Not scalable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✓ Infinite</a:t>
                      </a:r>
                    </a:p>
                  </a:txBody>
                  <a:tcPr>
                    <a:solidFill>
                      <a:srgbClr val="1212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 Hallucinate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✓ Never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✕ Yes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✓ No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✕ Yes</a:t>
                      </a:r>
                    </a:p>
                  </a:txBody>
                  <a:tcPr>
                    <a:solidFill>
                      <a:srgbClr val="0E0E1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0A2015"/>
          </a:solidFill>
          <a:ln w="12700">
            <a:solidFill>
              <a:srgbClr val="155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C0"/>
                </a:solidFill>
                <a:latin typeface="Calibri"/>
              </a:defRPr>
            </a:pPr>
            <a:r>
              <a:t>💡 The key insight: You can't trust an LLM to judge another LLM. Guardrail uses deterministic pattern matching — it's fast, cheap, and never wrong about being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80" y="1097280"/>
            <a:ext cx="16459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Become a Design Partner.</a:t>
            </a:r>
            <a:br/>
            <a:r>
              <a:t>Shape the future of AI safety.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C0"/>
                </a:solidFill>
                <a:latin typeface="Calibri"/>
              </a:defRPr>
            </a:pPr>
            <a:r>
              <a:t>We're selecting 3–5 companies to build with.</a:t>
            </a:r>
            <a:br/>
            <a:r>
              <a:t>Free access. Direct engineering support. Locked-in pricing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symehmoo@gmail.com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754880"/>
            <a:ext cx="2926080" cy="457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0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4782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🎮 Live Playground → Try it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54880"/>
            <a:ext cx="2926080" cy="457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0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4782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📖 Audit Report →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The question isn't whether your AI will make mistakes.</a:t>
            </a:r>
            <a:br/>
            <a:r>
              <a:t>It's whether you'll catch them before your users 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